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8"/>
  </p:notesMasterIdLst>
  <p:sldIdLst>
    <p:sldId id="260" r:id="rId2"/>
    <p:sldId id="381" r:id="rId3"/>
    <p:sldId id="383" r:id="rId4"/>
    <p:sldId id="401" r:id="rId5"/>
    <p:sldId id="403" r:id="rId6"/>
    <p:sldId id="382" r:id="rId7"/>
    <p:sldId id="389" r:id="rId8"/>
    <p:sldId id="390" r:id="rId9"/>
    <p:sldId id="391" r:id="rId10"/>
    <p:sldId id="392" r:id="rId11"/>
    <p:sldId id="394" r:id="rId12"/>
    <p:sldId id="393" r:id="rId13"/>
    <p:sldId id="395" r:id="rId14"/>
    <p:sldId id="402" r:id="rId15"/>
    <p:sldId id="384" r:id="rId16"/>
    <p:sldId id="399" r:id="rId17"/>
    <p:sldId id="377" r:id="rId18"/>
    <p:sldId id="385" r:id="rId19"/>
    <p:sldId id="378" r:id="rId20"/>
    <p:sldId id="400" r:id="rId21"/>
    <p:sldId id="396" r:id="rId22"/>
    <p:sldId id="397" r:id="rId23"/>
    <p:sldId id="398" r:id="rId24"/>
    <p:sldId id="379" r:id="rId25"/>
    <p:sldId id="387" r:id="rId26"/>
    <p:sldId id="404" r:id="rId2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bg2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bg2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bg2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bg2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bg2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bg2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bg2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bg2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bg2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>
          <p15:clr>
            <a:srgbClr val="A4A3A4"/>
          </p15:clr>
        </p15:guide>
        <p15:guide id="2" pos="28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BBBB"/>
    <a:srgbClr val="161616"/>
    <a:srgbClr val="424242"/>
    <a:srgbClr val="4A6E8E"/>
    <a:srgbClr val="BBE0E3"/>
    <a:srgbClr val="000000"/>
    <a:srgbClr val="FF3300"/>
    <a:srgbClr val="539D6A"/>
    <a:srgbClr val="B3B3B3"/>
    <a:srgbClr val="338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84951" autoAdjust="0"/>
  </p:normalViewPr>
  <p:slideViewPr>
    <p:cSldViewPr snapToGrid="0" showGuides="1">
      <p:cViewPr>
        <p:scale>
          <a:sx n="125" d="100"/>
          <a:sy n="125" d="100"/>
        </p:scale>
        <p:origin x="1146" y="102"/>
      </p:cViewPr>
      <p:guideLst>
        <p:guide orient="horz" pos="2123"/>
        <p:guide pos="2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endParaRPr lang="ru-RU" altLang="ru-RU"/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endParaRPr lang="ru-RU" altLang="ru-RU"/>
          </a:p>
        </p:txBody>
      </p:sp>
      <p:sp>
        <p:nvSpPr>
          <p:cNvPr id="582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2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582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endParaRPr lang="ru-RU" altLang="ru-RU"/>
          </a:p>
        </p:txBody>
      </p:sp>
      <p:sp>
        <p:nvSpPr>
          <p:cNvPr id="582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fld id="{E46814E6-670C-4EF2-B394-5015930049F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313349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CE7E4-AC93-44AE-827E-87D36C1CFB5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9256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0C2EA9-D3A7-467E-ADCD-3BCEA2C02A0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78934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500124-AB83-42F4-8C19-47B7C71EAD7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9246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FE281-4F0E-4D22-94E2-3BE7FA28EC0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68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3403CC-7EAD-4341-8468-4F20331523D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0592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76F5A-EDED-4134-A1F2-EEE84B6D3E6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0623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E7B183-8180-4025-9B88-161155E042A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6422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F9AD3A-89DA-4F06-AF99-24E70F6619C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75770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9C1FA4-09E5-4F68-B36F-802ABE55A640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5881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767884-E8C8-402D-83CC-FCC21788631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789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487372-2CC6-498A-B03C-525B3DEB2B2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6659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102" name="Object 30"/>
          <p:cNvGraphicFramePr>
            <a:graphicFrameLocks noChangeAspect="1"/>
          </p:cNvGraphicFramePr>
          <p:nvPr userDrawn="1"/>
        </p:nvGraphicFramePr>
        <p:xfrm>
          <a:off x="0" y="0"/>
          <a:ext cx="9144000" cy="686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141" name="Image" r:id="rId15" imgW="11868690" imgH="8907872" progId="Photoshop.Image.5">
                  <p:embed/>
                </p:oleObj>
              </mc:Choice>
              <mc:Fallback>
                <p:oleObj name="Image" r:id="rId15" imgW="11868690" imgH="8907872" progId="Photoshop.Image.5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6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95" name="Rectangle 2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387096" name="Rectangle 2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387097" name="Rectangle 2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ru-RU" altLang="ru-RU"/>
          </a:p>
        </p:txBody>
      </p:sp>
      <p:sp>
        <p:nvSpPr>
          <p:cNvPr id="387098" name="Rectangle 2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ru-RU" altLang="ru-RU"/>
          </a:p>
        </p:txBody>
      </p:sp>
      <p:sp>
        <p:nvSpPr>
          <p:cNvPr id="387099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C9C67EA2-4A32-4568-98F3-AAE448A44E76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gif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92275" y="115888"/>
            <a:ext cx="7273925" cy="433387"/>
          </a:xfrm>
        </p:spPr>
        <p:txBody>
          <a:bodyPr/>
          <a:lstStyle/>
          <a:p>
            <a:endParaRPr lang="ru-RU" altLang="ru-RU" sz="1800" b="1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241300" y="893763"/>
            <a:ext cx="9144000" cy="523875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0000"/>
              </a:buClr>
              <a:tabLst>
                <a:tab pos="354013" algn="l"/>
              </a:tabLst>
            </a:pPr>
            <a:endParaRPr lang="en-US" altLang="ru-RU" sz="4400" b="1" i="1" dirty="0" smtClean="0">
              <a:solidFill>
                <a:srgbClr val="FF3300"/>
              </a:solidFill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tabLst>
                <a:tab pos="354013" algn="l"/>
              </a:tabLst>
            </a:pPr>
            <a:endParaRPr lang="ru-RU" altLang="ru-RU" sz="3400" i="1" dirty="0" smtClean="0">
              <a:solidFill>
                <a:srgbClr val="FF3300"/>
              </a:solidFill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tabLst>
                <a:tab pos="354013" algn="l"/>
              </a:tabLst>
            </a:pPr>
            <a:endParaRPr lang="en-US" altLang="ru-RU" sz="3400" b="1" i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tabLst>
                <a:tab pos="354013" algn="l"/>
              </a:tabLst>
            </a:pPr>
            <a:r>
              <a:rPr lang="ru-RU" altLang="ru-RU" sz="4200" b="1" i="1" dirty="0" smtClean="0">
                <a:solidFill>
                  <a:srgbClr val="000000"/>
                </a:solidFill>
              </a:rPr>
              <a:t>Модели ПО</a:t>
            </a:r>
            <a:endParaRPr lang="ru-RU" altLang="ru-RU" sz="4000" b="1" i="1" dirty="0">
              <a:solidFill>
                <a:srgbClr val="000000"/>
              </a:solidFill>
            </a:endParaRPr>
          </a:p>
        </p:txBody>
      </p:sp>
      <p:sp>
        <p:nvSpPr>
          <p:cNvPr id="416776" name="Text Box 8"/>
          <p:cNvSpPr txBox="1">
            <a:spLocks noChangeArrowheads="1"/>
          </p:cNvSpPr>
          <p:nvPr/>
        </p:nvSpPr>
        <p:spPr bwMode="auto">
          <a:xfrm>
            <a:off x="762001" y="6551613"/>
            <a:ext cx="8382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ru-RU" altLang="ru-RU" sz="1600" dirty="0" smtClean="0">
                <a:solidFill>
                  <a:schemeClr val="tx1"/>
                </a:solidFill>
              </a:rPr>
              <a:t>ИИКС НИЯУ МИФИ, Кафедра  кибернетики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en-US" altLang="ru-RU" sz="1600" dirty="0" smtClean="0">
                <a:solidFill>
                  <a:schemeClr val="tx1"/>
                </a:solidFill>
              </a:rPr>
              <a:t>http</a:t>
            </a:r>
            <a:r>
              <a:rPr lang="en-US" altLang="ru-RU" sz="1600" dirty="0">
                <a:solidFill>
                  <a:schemeClr val="tx1"/>
                </a:solidFill>
              </a:rPr>
              <a:t>://cyber.mephi.ru	</a:t>
            </a:r>
            <a:r>
              <a:rPr lang="en-US" altLang="ru-RU" sz="1600" dirty="0" smtClean="0">
                <a:solidFill>
                  <a:schemeClr val="tx1"/>
                </a:solidFill>
              </a:rPr>
              <a:t>http://kaf22.ru	</a:t>
            </a:r>
            <a:endParaRPr lang="ru-RU" altLang="ru-RU" sz="1600" dirty="0" smtClean="0">
              <a:solidFill>
                <a:schemeClr val="tx1"/>
              </a:solidFill>
            </a:endParaRPr>
          </a:p>
          <a:p>
            <a:pPr algn="r"/>
            <a:endParaRPr lang="ru-RU" altLang="ru-RU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solidFill>
                  <a:schemeClr val="bg1"/>
                </a:solidFill>
              </a:rPr>
              <a:t>. Под </a:t>
            </a:r>
            <a:r>
              <a:rPr lang="ru-RU" sz="2000" i="1" dirty="0">
                <a:solidFill>
                  <a:schemeClr val="bg1"/>
                </a:solidFill>
              </a:rPr>
              <a:t>жизненным циклом </a:t>
            </a:r>
            <a:r>
              <a:rPr lang="ru-RU" sz="2000" dirty="0">
                <a:solidFill>
                  <a:schemeClr val="bg1"/>
                </a:solidFill>
              </a:rPr>
              <a:t>программы будем понимать совокупность этапов: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Анализ предметной области и создание ТЗ (взаимодействия с заказчиком)</a:t>
            </a:r>
          </a:p>
          <a:p>
            <a:r>
              <a:rPr lang="ru-RU" sz="2000" dirty="0">
                <a:solidFill>
                  <a:schemeClr val="bg1"/>
                </a:solidFill>
              </a:rPr>
              <a:t>Проектирование структуры программы </a:t>
            </a:r>
          </a:p>
          <a:p>
            <a:r>
              <a:rPr lang="ru-RU" sz="2000" dirty="0">
                <a:solidFill>
                  <a:schemeClr val="bg1"/>
                </a:solidFill>
              </a:rPr>
              <a:t>Кодирование (набор программного кода согласно проектной документации)</a:t>
            </a:r>
          </a:p>
          <a:p>
            <a:r>
              <a:rPr lang="ru-RU" sz="2000" dirty="0">
                <a:solidFill>
                  <a:schemeClr val="bg1"/>
                </a:solidFill>
              </a:rPr>
              <a:t>Тестирование и отладка</a:t>
            </a:r>
          </a:p>
          <a:p>
            <a:r>
              <a:rPr lang="ru-RU" sz="2000" dirty="0">
                <a:solidFill>
                  <a:schemeClr val="bg1"/>
                </a:solidFill>
              </a:rPr>
              <a:t>Внедрение программы</a:t>
            </a:r>
          </a:p>
          <a:p>
            <a:r>
              <a:rPr lang="ru-RU" sz="2000" dirty="0">
                <a:solidFill>
                  <a:schemeClr val="bg1"/>
                </a:solidFill>
              </a:rPr>
              <a:t>Сопровождение программы</a:t>
            </a:r>
          </a:p>
          <a:p>
            <a:r>
              <a:rPr lang="ru-RU" sz="2000" dirty="0">
                <a:solidFill>
                  <a:schemeClr val="bg1"/>
                </a:solidFill>
              </a:rPr>
              <a:t>Утилизация</a:t>
            </a:r>
          </a:p>
          <a:p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28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>
                <a:solidFill>
                  <a:schemeClr val="bg1"/>
                </a:solidFill>
              </a:rPr>
              <a:t>Модель – есть абстрактное </a:t>
            </a:r>
            <a:r>
              <a:rPr lang="ru-RU" sz="1800" dirty="0">
                <a:solidFill>
                  <a:schemeClr val="bg1"/>
                </a:solidFill>
              </a:rPr>
              <a:t>представление реальности в какой-либо форме (например, в математической, физической, символической, графической или дескриптивной), предназначенное для представления определённых аспектов этой реальности и позволяющее получить ответы на изучаемые </a:t>
            </a:r>
            <a:r>
              <a:rPr lang="ru-RU" sz="1800" dirty="0" smtClean="0">
                <a:solidFill>
                  <a:schemeClr val="bg1"/>
                </a:solidFill>
              </a:rPr>
              <a:t>вопросы</a:t>
            </a:r>
          </a:p>
          <a:p>
            <a:endParaRPr lang="ru-RU" sz="1800" dirty="0">
              <a:solidFill>
                <a:schemeClr val="bg1"/>
              </a:solidFill>
            </a:endParaRPr>
          </a:p>
          <a:p>
            <a:r>
              <a:rPr lang="ru-RU" sz="1800" b="1" dirty="0">
                <a:solidFill>
                  <a:schemeClr val="bg1"/>
                </a:solidFill>
              </a:rPr>
              <a:t>Модель</a:t>
            </a:r>
            <a:r>
              <a:rPr lang="ru-RU" sz="1800" dirty="0">
                <a:solidFill>
                  <a:schemeClr val="bg1"/>
                </a:solidFill>
              </a:rPr>
              <a:t> – </a:t>
            </a:r>
            <a:r>
              <a:rPr lang="ru-RU" sz="1800" b="1" dirty="0">
                <a:solidFill>
                  <a:schemeClr val="bg1"/>
                </a:solidFill>
              </a:rPr>
              <a:t>это</a:t>
            </a:r>
            <a:r>
              <a:rPr lang="ru-RU" sz="1800" dirty="0">
                <a:solidFill>
                  <a:schemeClr val="bg1"/>
                </a:solidFill>
              </a:rPr>
              <a:t> </a:t>
            </a:r>
            <a:r>
              <a:rPr lang="ru-RU" sz="1800" b="1" dirty="0">
                <a:solidFill>
                  <a:schemeClr val="bg1"/>
                </a:solidFill>
              </a:rPr>
              <a:t>упрощённое</a:t>
            </a:r>
            <a:r>
              <a:rPr lang="ru-RU" sz="1800" dirty="0">
                <a:solidFill>
                  <a:schemeClr val="bg1"/>
                </a:solidFill>
              </a:rPr>
              <a:t> представление о </a:t>
            </a:r>
            <a:r>
              <a:rPr lang="ru-RU" sz="1800" b="1" dirty="0">
                <a:solidFill>
                  <a:schemeClr val="bg1"/>
                </a:solidFill>
              </a:rPr>
              <a:t>реальном</a:t>
            </a:r>
            <a:r>
              <a:rPr lang="ru-RU" sz="1800" dirty="0">
                <a:solidFill>
                  <a:schemeClr val="bg1"/>
                </a:solidFill>
              </a:rPr>
              <a:t> объекте, процессе или явлении, отражающее его </a:t>
            </a:r>
            <a:r>
              <a:rPr lang="ru-RU" sz="1800" dirty="0" smtClean="0">
                <a:solidFill>
                  <a:schemeClr val="bg1"/>
                </a:solidFill>
              </a:rPr>
              <a:t>существенные* свойства</a:t>
            </a:r>
          </a:p>
          <a:p>
            <a:endParaRPr lang="ru-RU" sz="1800" dirty="0" smtClean="0">
              <a:solidFill>
                <a:schemeClr val="bg1"/>
              </a:solidFill>
            </a:endParaRPr>
          </a:p>
          <a:p>
            <a:r>
              <a:rPr lang="ru-RU" sz="1800" dirty="0" smtClean="0">
                <a:solidFill>
                  <a:schemeClr val="bg1"/>
                </a:solidFill>
              </a:rPr>
              <a:t>* в рассматриваемых «обстоятельствах»                 в разных обстоятельствах получим разные </a:t>
            </a:r>
            <a:r>
              <a:rPr lang="ru-RU" sz="1800" dirty="0" smtClean="0">
                <a:solidFill>
                  <a:schemeClr val="bg1"/>
                </a:solidFill>
              </a:rPr>
              <a:t>модели</a:t>
            </a:r>
            <a:br>
              <a:rPr lang="ru-RU" sz="1800" dirty="0" smtClean="0">
                <a:solidFill>
                  <a:schemeClr val="bg1"/>
                </a:solidFill>
              </a:rPr>
            </a:br>
            <a:r>
              <a:rPr lang="ru-RU" sz="1800" dirty="0" smtClean="0">
                <a:solidFill>
                  <a:schemeClr val="bg1"/>
                </a:solidFill>
              </a:rPr>
              <a:t/>
            </a:r>
            <a:br>
              <a:rPr lang="ru-RU" sz="1800" dirty="0" smtClean="0">
                <a:solidFill>
                  <a:schemeClr val="bg1"/>
                </a:solidFill>
              </a:rPr>
            </a:br>
            <a:r>
              <a:rPr lang="ru-RU" sz="1800" dirty="0">
                <a:solidFill>
                  <a:schemeClr val="bg1"/>
                </a:solidFill>
              </a:rPr>
              <a:t>Модель </a:t>
            </a:r>
            <a:r>
              <a:rPr lang="ru-RU" sz="1800" dirty="0" smtClean="0">
                <a:solidFill>
                  <a:schemeClr val="bg1"/>
                </a:solidFill>
              </a:rPr>
              <a:t>объекта </a:t>
            </a:r>
            <a:r>
              <a:rPr lang="ru-RU" sz="1800" dirty="0">
                <a:solidFill>
                  <a:schemeClr val="bg1"/>
                </a:solidFill>
              </a:rPr>
              <a:t>может воспроизводить </a:t>
            </a:r>
            <a:r>
              <a:rPr lang="ru-RU" sz="1800" dirty="0" smtClean="0">
                <a:solidFill>
                  <a:schemeClr val="bg1"/>
                </a:solidFill>
              </a:rPr>
              <a:t>не </a:t>
            </a:r>
            <a:r>
              <a:rPr lang="ru-RU" sz="1800" dirty="0">
                <a:solidFill>
                  <a:schemeClr val="bg1"/>
                </a:solidFill>
              </a:rPr>
              <a:t>все </a:t>
            </a:r>
            <a:r>
              <a:rPr lang="ru-RU" sz="1800" dirty="0" smtClean="0">
                <a:solidFill>
                  <a:schemeClr val="bg1"/>
                </a:solidFill>
              </a:rPr>
              <a:t>существенные признаки, но </a:t>
            </a:r>
            <a:r>
              <a:rPr lang="ru-RU" sz="1800" dirty="0">
                <a:solidFill>
                  <a:schemeClr val="bg1"/>
                </a:solidFill>
              </a:rPr>
              <a:t>все необходимые для реализации целей моделирования.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4" name="Стрелка вправо 3"/>
          <p:cNvSpPr/>
          <p:nvPr/>
        </p:nvSpPr>
        <p:spPr bwMode="auto">
          <a:xfrm>
            <a:off x="5317724" y="4341180"/>
            <a:ext cx="798991" cy="239697"/>
          </a:xfrm>
          <a:prstGeom prst="rightArrow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1" i="0" u="none" strike="noStrike" cap="none" normalizeH="0" baseline="0" smtClean="0">
              <a:ln>
                <a:noFill/>
              </a:ln>
              <a:solidFill>
                <a:schemeClr val="bg2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26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5600" y="0"/>
            <a:ext cx="8229600" cy="4826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Модели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6" y="1257299"/>
            <a:ext cx="2548468" cy="1911351"/>
          </a:xfrm>
        </p:spPr>
      </p:pic>
      <p:sp>
        <p:nvSpPr>
          <p:cNvPr id="9" name="Прямоугольник 8"/>
          <p:cNvSpPr/>
          <p:nvPr/>
        </p:nvSpPr>
        <p:spPr>
          <a:xfrm>
            <a:off x="-355600" y="3319788"/>
            <a:ext cx="4572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900" dirty="0"/>
              <a:t>https://</a:t>
            </a:r>
            <a:r>
              <a:rPr lang="ru-RU" sz="900" dirty="0" smtClean="0"/>
              <a:t>ru.wikipedia.org/wiki/Аэродинамика</a:t>
            </a:r>
            <a:endParaRPr lang="ru-RU" sz="9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57200" y="3952268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Самолет, пролетая над зенитной батареей на высоте H=1км 𝐻 = 1 к м , начинает пикировать с выключенным двигателем </a:t>
            </a:r>
            <a:r>
              <a:rPr lang="ru-RU" sz="1200" dirty="0" smtClean="0"/>
              <a:t>на </a:t>
            </a:r>
            <a:r>
              <a:rPr lang="ru-RU" sz="1200" dirty="0"/>
              <a:t>цель со скоростью v1=540км/ч 𝑣 1 = 540 к м / ч , направленной под углом α=60∘ 𝛼 = 60 ∘ к горизонту. Самолет сбивают выстрелом из орудия, произведенным в тот момент времени, когда он находился над батареей. Определите, на каком расстоянии от батареи, считая по горизонтальному направлению, снаряд попал в </a:t>
            </a:r>
            <a:r>
              <a:rPr lang="ru-RU" sz="1200" dirty="0" smtClean="0"/>
              <a:t>самолет</a:t>
            </a:r>
            <a:r>
              <a:rPr lang="ru-RU" sz="1200" dirty="0"/>
              <a:t>. Скорость снаряда при вылете из ствола орудия v2=600м/с 𝑣 2 = 600 м / с . </a:t>
            </a:r>
            <a:r>
              <a:rPr lang="ru-RU" sz="1200" dirty="0" smtClean="0">
                <a:solidFill>
                  <a:srgbClr val="FF0000"/>
                </a:solidFill>
              </a:rPr>
              <a:t>Сопротивлением воздуха можно пренебречь</a:t>
            </a:r>
            <a:r>
              <a:rPr lang="ru-RU" sz="1200" dirty="0" smtClean="0"/>
              <a:t>. 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4125218"/>
            <a:ext cx="3134162" cy="1962424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3944638" y="3919208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b="0" dirty="0" smtClean="0">
                <a:solidFill>
                  <a:srgbClr val="000000"/>
                </a:solidFill>
                <a:latin typeface="+mn-lt"/>
              </a:rPr>
              <a:t>Уравнения </a:t>
            </a:r>
            <a:r>
              <a:rPr lang="ru-RU" sz="1200" b="0" dirty="0">
                <a:solidFill>
                  <a:srgbClr val="000000"/>
                </a:solidFill>
                <a:latin typeface="+mn-lt"/>
              </a:rPr>
              <a:t>движения для </a:t>
            </a:r>
            <a:r>
              <a:rPr lang="ru-RU" sz="1200" b="0" dirty="0" smtClean="0">
                <a:solidFill>
                  <a:srgbClr val="000000"/>
                </a:solidFill>
                <a:latin typeface="+mn-lt"/>
              </a:rPr>
              <a:t>самолета</a:t>
            </a:r>
            <a:endParaRPr lang="ru-RU" sz="1200" dirty="0">
              <a:latin typeface="+mn-lt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222500" y="6101088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dirty="0"/>
              <a:t>https://earthz.ru/solves/Zadacha-po-fizike-14542</a:t>
            </a:r>
          </a:p>
        </p:txBody>
      </p:sp>
      <p:sp>
        <p:nvSpPr>
          <p:cNvPr id="19" name="Заголовок 1"/>
          <p:cNvSpPr txBox="1">
            <a:spLocks/>
          </p:cNvSpPr>
          <p:nvPr/>
        </p:nvSpPr>
        <p:spPr bwMode="auto">
          <a:xfrm>
            <a:off x="-2273300" y="890890"/>
            <a:ext cx="82296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9pPr>
          </a:lstStyle>
          <a:p>
            <a:r>
              <a:rPr lang="ru-RU" sz="2000" b="0" kern="0" dirty="0" smtClean="0">
                <a:solidFill>
                  <a:schemeClr val="bg1"/>
                </a:solidFill>
              </a:rPr>
              <a:t>Вещественная модель</a:t>
            </a:r>
            <a:endParaRPr lang="ru-RU" sz="2000" b="0" kern="0" dirty="0">
              <a:solidFill>
                <a:schemeClr val="bg1"/>
              </a:solidFill>
            </a:endParaRPr>
          </a:p>
        </p:txBody>
      </p:sp>
      <p:sp>
        <p:nvSpPr>
          <p:cNvPr id="20" name="Заголовок 1"/>
          <p:cNvSpPr txBox="1">
            <a:spLocks/>
          </p:cNvSpPr>
          <p:nvPr/>
        </p:nvSpPr>
        <p:spPr bwMode="auto">
          <a:xfrm>
            <a:off x="3368077" y="812655"/>
            <a:ext cx="5890223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9pPr>
          </a:lstStyle>
          <a:p>
            <a:r>
              <a:rPr lang="ru-RU" sz="1800" b="0" kern="0" dirty="0" smtClean="0">
                <a:solidFill>
                  <a:schemeClr val="bg1"/>
                </a:solidFill>
              </a:rPr>
              <a:t>Информационная (невещественная) модель -1</a:t>
            </a:r>
            <a:endParaRPr lang="ru-RU" sz="1800" b="0" kern="0" dirty="0">
              <a:solidFill>
                <a:schemeClr val="bg1"/>
              </a:solidFill>
            </a:endParaRPr>
          </a:p>
        </p:txBody>
      </p:sp>
      <p:pic>
        <p:nvPicPr>
          <p:cNvPr id="21" name="Picture 6" descr="undefine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60"/>
          <a:stretch/>
        </p:blipFill>
        <p:spPr bwMode="auto">
          <a:xfrm>
            <a:off x="3825277" y="1203443"/>
            <a:ext cx="3231689" cy="192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Прямоугольник 21"/>
          <p:cNvSpPr/>
          <p:nvPr/>
        </p:nvSpPr>
        <p:spPr>
          <a:xfrm>
            <a:off x="3045596" y="322822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https://en.wikipedia.org/wiki/Aerodynamics</a:t>
            </a:r>
          </a:p>
        </p:txBody>
      </p:sp>
      <p:sp>
        <p:nvSpPr>
          <p:cNvPr id="23" name="Заголовок 1"/>
          <p:cNvSpPr txBox="1">
            <a:spLocks/>
          </p:cNvSpPr>
          <p:nvPr/>
        </p:nvSpPr>
        <p:spPr bwMode="auto">
          <a:xfrm>
            <a:off x="117256" y="3640973"/>
            <a:ext cx="4437109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9pPr>
          </a:lstStyle>
          <a:p>
            <a:r>
              <a:rPr lang="ru-RU" sz="2000" b="0" kern="0" dirty="0" smtClean="0">
                <a:solidFill>
                  <a:schemeClr val="bg1"/>
                </a:solidFill>
              </a:rPr>
              <a:t>Информационная модель - 2 </a:t>
            </a:r>
            <a:endParaRPr lang="ru-RU" sz="2000" b="0" kern="0" dirty="0">
              <a:solidFill>
                <a:schemeClr val="bg1"/>
              </a:solidFill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535" y="1203443"/>
            <a:ext cx="1832415" cy="2317858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7052041" y="3485634"/>
            <a:ext cx="202491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800" dirty="0"/>
              <a:t>https://vunivere.ru/work56559/page13</a:t>
            </a:r>
          </a:p>
        </p:txBody>
      </p:sp>
    </p:spTree>
    <p:extLst>
      <p:ext uri="{BB962C8B-B14F-4D97-AF65-F5344CB8AC3E}">
        <p14:creationId xmlns:p14="http://schemas.microsoft.com/office/powerpoint/2010/main" val="295956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5600" y="0"/>
            <a:ext cx="8229600" cy="4826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Модели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Заголовок 1"/>
          <p:cNvSpPr txBox="1">
            <a:spLocks/>
          </p:cNvSpPr>
          <p:nvPr/>
        </p:nvSpPr>
        <p:spPr bwMode="auto">
          <a:xfrm>
            <a:off x="3011850" y="386535"/>
            <a:ext cx="5573350" cy="569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9pPr>
          </a:lstStyle>
          <a:p>
            <a:r>
              <a:rPr lang="ru-RU" sz="2000" b="0" kern="0" dirty="0" smtClean="0">
                <a:solidFill>
                  <a:schemeClr val="bg1"/>
                </a:solidFill>
              </a:rPr>
              <a:t>Разные обстоятельства </a:t>
            </a:r>
            <a:r>
              <a:rPr lang="en-US" sz="2000" b="0" kern="0" dirty="0" smtClean="0">
                <a:solidFill>
                  <a:schemeClr val="bg1"/>
                </a:solidFill>
              </a:rPr>
              <a:t>-&gt;</a:t>
            </a:r>
            <a:r>
              <a:rPr lang="ru-RU" sz="2000" b="0" kern="0" dirty="0" smtClean="0">
                <a:solidFill>
                  <a:schemeClr val="bg1"/>
                </a:solidFill>
              </a:rPr>
              <a:t> </a:t>
            </a:r>
            <a:r>
              <a:rPr lang="ru-RU" sz="2000" b="0" kern="0" dirty="0" smtClean="0">
                <a:solidFill>
                  <a:schemeClr val="bg1"/>
                </a:solidFill>
              </a:rPr>
              <a:t>разные </a:t>
            </a:r>
            <a:r>
              <a:rPr lang="ru-RU" sz="2000" b="0" kern="0" dirty="0" smtClean="0">
                <a:solidFill>
                  <a:schemeClr val="bg1"/>
                </a:solidFill>
              </a:rPr>
              <a:t>модели </a:t>
            </a:r>
            <a:endParaRPr lang="ru-RU" sz="2000" b="0" kern="0" dirty="0">
              <a:solidFill>
                <a:schemeClr val="bg1"/>
              </a:solidFill>
            </a:endParaRPr>
          </a:p>
        </p:txBody>
      </p:sp>
      <p:pic>
        <p:nvPicPr>
          <p:cNvPr id="388098" name="Picture 2" descr="Какая в действительности форма у Земли и почему?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0" y="671054"/>
            <a:ext cx="2068195" cy="206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922046" y="817552"/>
            <a:ext cx="3091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*Фото – это тоже модель </a:t>
            </a:r>
            <a:endParaRPr lang="ru-RU" dirty="0"/>
          </a:p>
        </p:txBody>
      </p:sp>
      <p:pic>
        <p:nvPicPr>
          <p:cNvPr id="388100" name="Picture 4" descr="https://www.yapfiles.ru/files/872358/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847" y="3146651"/>
            <a:ext cx="3466686" cy="2886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102" name="Picture 6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098" y="1202436"/>
            <a:ext cx="1424625" cy="142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106" name="Picture 10" descr="Picture background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7" t="28761" r="61620" b="24309"/>
          <a:stretch/>
        </p:blipFill>
        <p:spPr bwMode="auto">
          <a:xfrm>
            <a:off x="3758574" y="1290526"/>
            <a:ext cx="1626851" cy="1613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1080367"/>
            <a:ext cx="1659665" cy="2033674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398293" y="12347742"/>
            <a:ext cx="2145937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" dirty="0"/>
              <a:t>https://www.yaplakal.com/forum2/topic1977001.html</a:t>
            </a:r>
          </a:p>
        </p:txBody>
      </p:sp>
      <p:pic>
        <p:nvPicPr>
          <p:cNvPr id="388112" name="Picture 16" descr="Какая в действительности форма у Земли и почему?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60" y="3525179"/>
            <a:ext cx="2129337" cy="212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Рисунок 2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2" t="4717" r="19156" b="7796"/>
          <a:stretch/>
        </p:blipFill>
        <p:spPr>
          <a:xfrm>
            <a:off x="5471159" y="1219201"/>
            <a:ext cx="1844041" cy="1760220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4572000" y="6262958"/>
            <a:ext cx="4572000" cy="3231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500" dirty="0" smtClean="0"/>
              <a:t>www.yaplakal.com/forum2/topic1977001.html</a:t>
            </a:r>
            <a:br>
              <a:rPr lang="ru-RU" sz="500" dirty="0" smtClean="0"/>
            </a:br>
            <a:r>
              <a:rPr lang="en-US" sz="500" dirty="0" smtClean="0"/>
              <a:t>ru.wikipedia.org/wiki/</a:t>
            </a:r>
            <a:r>
              <a:rPr lang="ru-RU" sz="500" dirty="0" smtClean="0"/>
              <a:t>Геоид</a:t>
            </a:r>
            <a:br>
              <a:rPr lang="ru-RU" sz="500" dirty="0" smtClean="0"/>
            </a:br>
            <a:r>
              <a:rPr lang="en-US" sz="500" dirty="0"/>
              <a:t>yandex.ru</a:t>
            </a:r>
            <a:endParaRPr lang="ru-RU" sz="500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0174" y="3631517"/>
            <a:ext cx="2005026" cy="205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1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AutoShape 2" descr="https://antidotte.com/app.php/pic/5493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88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367"/>
            <a:ext cx="5450889" cy="6686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7274677" y="6632993"/>
            <a:ext cx="987770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00" b="0" i="1" dirty="0" smtClean="0">
                <a:solidFill>
                  <a:schemeClr val="tx1">
                    <a:lumMod val="65000"/>
                  </a:schemeClr>
                </a:solidFill>
              </a:rPr>
              <a:t>Из открытых источников</a:t>
            </a:r>
            <a:endParaRPr lang="ru-RU" sz="500" b="0" i="1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37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chemeClr val="accent5">
                    <a:lumMod val="10000"/>
                  </a:schemeClr>
                </a:solidFill>
              </a:rPr>
              <a:t>Описание информационного представления предметной </a:t>
            </a:r>
            <a:r>
              <a:rPr lang="ru-RU" sz="3200" dirty="0" smtClean="0">
                <a:solidFill>
                  <a:schemeClr val="accent5">
                    <a:lumMod val="10000"/>
                  </a:schemeClr>
                </a:solidFill>
              </a:rPr>
              <a:t>области</a:t>
            </a:r>
            <a:r>
              <a:rPr lang="ru-RU" sz="3200" b="1" dirty="0" smtClean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ru-RU" sz="3200" b="1" dirty="0">
                <a:solidFill>
                  <a:schemeClr val="accent5">
                    <a:lumMod val="10000"/>
                  </a:schemeClr>
                </a:solidFill>
              </a:rPr>
              <a:t/>
            </a:r>
            <a:br>
              <a:rPr lang="ru-RU" sz="3200" b="1" dirty="0">
                <a:solidFill>
                  <a:schemeClr val="accent5">
                    <a:lumMod val="10000"/>
                  </a:schemeClr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495800"/>
          </a:xfrm>
        </p:spPr>
        <p:txBody>
          <a:bodyPr/>
          <a:lstStyle/>
          <a:p>
            <a:r>
              <a:rPr lang="ru-RU" sz="1800" b="1" dirty="0" smtClean="0">
                <a:solidFill>
                  <a:schemeClr val="accent5">
                    <a:lumMod val="10000"/>
                  </a:schemeClr>
                </a:solidFill>
              </a:rPr>
              <a:t>Концептуальная </a:t>
            </a:r>
            <a:r>
              <a:rPr lang="ru-RU" sz="1800" b="1" dirty="0">
                <a:solidFill>
                  <a:schemeClr val="accent5">
                    <a:lumMod val="10000"/>
                  </a:schemeClr>
                </a:solidFill>
              </a:rPr>
              <a:t>модель </a:t>
            </a:r>
            <a:r>
              <a:rPr lang="ru-RU" sz="1800" b="1" dirty="0" smtClean="0">
                <a:solidFill>
                  <a:schemeClr val="accent5">
                    <a:lumMod val="10000"/>
                  </a:schemeClr>
                </a:solidFill>
              </a:rPr>
              <a:t>предметной области</a:t>
            </a:r>
            <a:endParaRPr lang="ru-RU" sz="1800" b="1" dirty="0" smtClean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ru-RU" sz="1800" b="1" dirty="0" smtClean="0">
                <a:solidFill>
                  <a:schemeClr val="accent5">
                    <a:lumMod val="10000"/>
                  </a:schemeClr>
                </a:solidFill>
              </a:rPr>
              <a:t>Назовем 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концептуальной моделью 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отражение 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информации о предметной </a:t>
            </a:r>
            <a:r>
              <a:rPr lang="ru-RU" sz="1800" dirty="0">
                <a:solidFill>
                  <a:schemeClr val="accent5">
                    <a:lumMod val="10000"/>
                  </a:schemeClr>
                </a:solidFill>
              </a:rPr>
              <a:t>области, для которой разрабатывается база данных. </a:t>
            </a:r>
            <a:endParaRPr lang="ru-RU" sz="1800" dirty="0" smtClean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ru-RU" sz="18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ru-RU" sz="1800" b="1" dirty="0" smtClean="0">
                <a:solidFill>
                  <a:schemeClr val="accent5">
                    <a:lumMod val="10000"/>
                  </a:schemeClr>
                </a:solidFill>
              </a:rPr>
              <a:t>Будем использовать 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графическое описание – диаграмму  </a:t>
            </a:r>
            <a:r>
              <a:rPr lang="ru-RU" sz="1800" dirty="0">
                <a:solidFill>
                  <a:schemeClr val="accent5">
                    <a:lumMod val="10000"/>
                  </a:schemeClr>
                </a:solidFill>
              </a:rPr>
              <a:t>с принятыми обозначениями элементов. </a:t>
            </a:r>
            <a:endParaRPr lang="ru-RU" sz="1800" dirty="0" smtClean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endParaRPr lang="ru-RU" sz="1800" dirty="0">
              <a:solidFill>
                <a:schemeClr val="accent5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>
                    <a:lumMod val="10000"/>
                  </a:schemeClr>
                </a:solidFill>
              </a:rPr>
              <a:t>Wiki:  </a:t>
            </a:r>
            <a:r>
              <a:rPr lang="ru-RU" sz="1800" dirty="0" err="1" smtClean="0">
                <a:solidFill>
                  <a:schemeClr val="accent5">
                    <a:lumMod val="10000"/>
                  </a:schemeClr>
                </a:solidFill>
              </a:rPr>
              <a:t>Нота́ция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accent5">
                    <a:lumMod val="10000"/>
                  </a:schemeClr>
                </a:solidFill>
              </a:rPr>
              <a:t>(от лат. </a:t>
            </a:r>
            <a:r>
              <a:rPr lang="ru-RU" sz="1800" dirty="0" err="1">
                <a:solidFill>
                  <a:schemeClr val="accent5">
                    <a:lumMod val="10000"/>
                  </a:schemeClr>
                </a:solidFill>
              </a:rPr>
              <a:t>notatio</a:t>
            </a:r>
            <a:r>
              <a:rPr lang="ru-RU" sz="1800" dirty="0">
                <a:solidFill>
                  <a:schemeClr val="accent5">
                    <a:lumMod val="10000"/>
                  </a:schemeClr>
                </a:solidFill>
              </a:rPr>
              <a:t> «записывание; замечание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»)</a:t>
            </a:r>
            <a:r>
              <a:rPr lang="en-US" sz="1800" dirty="0" smtClean="0">
                <a:solidFill>
                  <a:schemeClr val="accent5">
                    <a:lumMod val="10000"/>
                  </a:schemeClr>
                </a:solidFill>
              </a:rPr>
              <a:t>/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 Система </a:t>
            </a:r>
            <a:r>
              <a:rPr lang="ru-RU" sz="1800" dirty="0">
                <a:solidFill>
                  <a:schemeClr val="accent5">
                    <a:lumMod val="10000"/>
                  </a:schemeClr>
                </a:solidFill>
              </a:rPr>
              <a:t>условных обозначений, принятая в какой-либо области знаний или деятельности. Включает множество символов, используемых для представления понятий и их взаимоотношений, составляющее алфавит нотации, а также правила их применения</a:t>
            </a:r>
            <a:r>
              <a:rPr lang="ru-RU" sz="1800" dirty="0" smtClean="0">
                <a:solidFill>
                  <a:schemeClr val="accent5">
                    <a:lumMod val="1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497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66387"/>
            <a:ext cx="8229600" cy="1143000"/>
          </a:xfrm>
        </p:spPr>
        <p:txBody>
          <a:bodyPr/>
          <a:lstStyle/>
          <a:p>
            <a:pPr marL="0" indent="0"/>
            <a:r>
              <a:rPr lang="ru-RU" dirty="0">
                <a:solidFill>
                  <a:schemeClr val="accent5">
                    <a:lumMod val="10000"/>
                  </a:schemeClr>
                </a:solidFill>
              </a:rPr>
              <a:t>Нотации «</a:t>
            </a:r>
            <a:r>
              <a:rPr lang="ru-RU" dirty="0" smtClean="0">
                <a:solidFill>
                  <a:schemeClr val="accent5">
                    <a:lumMod val="10000"/>
                  </a:schemeClr>
                </a:solidFill>
              </a:rPr>
              <a:t>сущность – связь»</a:t>
            </a:r>
            <a:r>
              <a:rPr lang="ru-RU" dirty="0">
                <a:solidFill>
                  <a:schemeClr val="accent5">
                    <a:lumMod val="10000"/>
                  </a:schemeClr>
                </a:solidFill>
              </a:rPr>
              <a:t/>
            </a:r>
            <a:br>
              <a:rPr lang="ru-RU" dirty="0">
                <a:solidFill>
                  <a:schemeClr val="accent5">
                    <a:lumMod val="10000"/>
                  </a:schemeClr>
                </a:solidFill>
              </a:rPr>
            </a:br>
            <a:r>
              <a:rPr lang="ru-RU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br>
              <a:rPr lang="ru-RU" dirty="0">
                <a:solidFill>
                  <a:schemeClr val="accent5">
                    <a:lumMod val="10000"/>
                  </a:schemeClr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63879"/>
            <a:ext cx="8229600" cy="5432121"/>
          </a:xfrm>
        </p:spPr>
        <p:txBody>
          <a:bodyPr/>
          <a:lstStyle/>
          <a:p>
            <a:r>
              <a:rPr lang="ru-RU" sz="1600" b="1" dirty="0">
                <a:solidFill>
                  <a:schemeClr val="accent5">
                    <a:lumMod val="10000"/>
                  </a:schemeClr>
                </a:solidFill>
              </a:rPr>
              <a:t>1. Нотация IDEF1X.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 Её относят к фундаментальным, </a:t>
            </a:r>
            <a:r>
              <a:rPr lang="ru-RU" sz="1600" dirty="0" smtClean="0">
                <a:solidFill>
                  <a:schemeClr val="accent5">
                    <a:lumMod val="10000"/>
                  </a:schemeClr>
                </a:solidFill>
              </a:rPr>
              <a:t>на 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практике </a:t>
            </a:r>
            <a:r>
              <a:rPr lang="ru-RU" sz="1600" dirty="0" smtClean="0">
                <a:solidFill>
                  <a:schemeClr val="accent5">
                    <a:lumMod val="10000"/>
                  </a:schemeClr>
                </a:solidFill>
              </a:rPr>
              <a:t>редко 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используют, </a:t>
            </a:r>
            <a:r>
              <a:rPr lang="ru-RU" sz="1600" dirty="0" smtClean="0">
                <a:solidFill>
                  <a:schemeClr val="accent5">
                    <a:lumMod val="10000"/>
                  </a:schemeClr>
                </a:solidFill>
              </a:rPr>
              <a:t>есть 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более удобные варианты.</a:t>
            </a:r>
            <a:br>
              <a:rPr lang="ru-RU" sz="1600" dirty="0">
                <a:solidFill>
                  <a:schemeClr val="accent5">
                    <a:lumMod val="10000"/>
                  </a:schemeClr>
                </a:solidFill>
              </a:rPr>
            </a:b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/>
            </a:r>
            <a:br>
              <a:rPr lang="ru-RU" sz="1600" dirty="0">
                <a:solidFill>
                  <a:schemeClr val="accent5">
                    <a:lumMod val="10000"/>
                  </a:schemeClr>
                </a:solidFill>
              </a:rPr>
            </a:br>
            <a:r>
              <a:rPr lang="ru-RU" sz="1600" b="1" dirty="0">
                <a:solidFill>
                  <a:schemeClr val="accent5">
                    <a:lumMod val="10000"/>
                  </a:schemeClr>
                </a:solidFill>
              </a:rPr>
              <a:t>2. Нотация </a:t>
            </a:r>
            <a:r>
              <a:rPr lang="ru-RU" sz="1600" b="1" dirty="0" err="1">
                <a:solidFill>
                  <a:schemeClr val="accent5">
                    <a:lumMod val="10000"/>
                  </a:schemeClr>
                </a:solidFill>
              </a:rPr>
              <a:t>Чена</a:t>
            </a:r>
            <a:r>
              <a:rPr lang="ru-RU" sz="1600" b="1" dirty="0">
                <a:solidFill>
                  <a:schemeClr val="accent5">
                    <a:lumMod val="10000"/>
                  </a:schemeClr>
                </a:solidFill>
              </a:rPr>
              <a:t>.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 Классическая нотация, которая состоит из простых символов — прямоугольников, овалов и линий. Из-за этого нотацию часто используют для концептуальных моделей, которые презентуют заказчику. Человеку, который далёк от аналитики данных, проще разобраться в понятных диаграммах со знакомыми символами.</a:t>
            </a:r>
            <a:br>
              <a:rPr lang="ru-RU" sz="1600" dirty="0">
                <a:solidFill>
                  <a:schemeClr val="accent5">
                    <a:lumMod val="10000"/>
                  </a:schemeClr>
                </a:solidFill>
              </a:rPr>
            </a:b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/>
            </a:r>
            <a:br>
              <a:rPr lang="ru-RU" sz="1600" dirty="0">
                <a:solidFill>
                  <a:schemeClr val="accent5">
                    <a:lumMod val="10000"/>
                  </a:schemeClr>
                </a:solidFill>
              </a:rPr>
            </a:br>
            <a:r>
              <a:rPr lang="ru-RU" sz="1600" b="1" dirty="0">
                <a:solidFill>
                  <a:schemeClr val="accent5">
                    <a:lumMod val="10000"/>
                  </a:schemeClr>
                </a:solidFill>
              </a:rPr>
              <a:t>3. Нотация Мартина.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 Её ещё называют «воронья лапка» (от англ. </a:t>
            </a:r>
            <a:r>
              <a:rPr lang="ru-RU" sz="1600" dirty="0" err="1">
                <a:solidFill>
                  <a:schemeClr val="accent5">
                    <a:lumMod val="10000"/>
                  </a:schemeClr>
                </a:solidFill>
              </a:rPr>
              <a:t>Crow's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accent5">
                    <a:lumMod val="10000"/>
                  </a:schemeClr>
                </a:solidFill>
              </a:rPr>
              <a:t>Foot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). Она компактнее нотации </a:t>
            </a:r>
            <a:r>
              <a:rPr lang="ru-RU" sz="1600" dirty="0" err="1">
                <a:solidFill>
                  <a:schemeClr val="accent5">
                    <a:lumMod val="10000"/>
                  </a:schemeClr>
                </a:solidFill>
              </a:rPr>
              <a:t>Чена</a:t>
            </a:r>
            <a:r>
              <a:rPr lang="ru-RU" sz="1600" dirty="0">
                <a:solidFill>
                  <a:schemeClr val="accent5">
                    <a:lumMod val="10000"/>
                  </a:schemeClr>
                </a:solidFill>
              </a:rPr>
              <a:t>, поэтому её используют для построения ER-моделей логического уровня, когда нужно описать в модели все атрибуты </a:t>
            </a:r>
            <a:r>
              <a:rPr lang="ru-RU" sz="1600" dirty="0" smtClean="0">
                <a:solidFill>
                  <a:schemeClr val="accent5">
                    <a:lumMod val="10000"/>
                  </a:schemeClr>
                </a:solidFill>
              </a:rPr>
              <a:t>сущностей</a:t>
            </a:r>
          </a:p>
          <a:p>
            <a:endParaRPr lang="ru-RU" sz="1600" dirty="0" smtClean="0">
              <a:solidFill>
                <a:schemeClr val="accent5">
                  <a:lumMod val="10000"/>
                </a:schemeClr>
              </a:solidFill>
            </a:endParaRPr>
          </a:p>
          <a:p>
            <a:r>
              <a:rPr lang="ru-RU" sz="1600" b="1" dirty="0" smtClean="0">
                <a:solidFill>
                  <a:schemeClr val="accent5">
                    <a:lumMod val="10000"/>
                  </a:schemeClr>
                </a:solidFill>
              </a:rPr>
              <a:t>4. – …  другие</a:t>
            </a:r>
            <a:endParaRPr lang="ru-RU" sz="1600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26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35279"/>
          </a:xfrm>
        </p:spPr>
        <p:txBody>
          <a:bodyPr/>
          <a:lstStyle/>
          <a:p>
            <a:r>
              <a:rPr lang="ru-RU" dirty="0" smtClean="0">
                <a:solidFill>
                  <a:schemeClr val="accent5">
                    <a:lumMod val="10000"/>
                  </a:schemeClr>
                </a:solidFill>
              </a:rPr>
              <a:t>Нотация </a:t>
            </a:r>
            <a:r>
              <a:rPr lang="ru-RU" dirty="0" err="1" smtClean="0">
                <a:solidFill>
                  <a:schemeClr val="accent5">
                    <a:lumMod val="10000"/>
                  </a:schemeClr>
                </a:solidFill>
              </a:rPr>
              <a:t>Чена</a:t>
            </a:r>
            <a:endParaRPr lang="ru-RU" dirty="0">
              <a:solidFill>
                <a:schemeClr val="accent5">
                  <a:lumMod val="10000"/>
                </a:schemeClr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181" y="610644"/>
            <a:ext cx="6703638" cy="44958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81" y="4956132"/>
            <a:ext cx="6703638" cy="14321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22522" y="5235879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161616"/>
                </a:solidFill>
              </a:rPr>
              <a:t>СОЕДИНИТЕЛЬНАЯ ЛИНИЯ</a:t>
            </a:r>
            <a:endParaRPr lang="ru-RU" dirty="0">
              <a:solidFill>
                <a:srgbClr val="161616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73965" y="5902239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161616"/>
                </a:solidFill>
              </a:rPr>
              <a:t>1   </a:t>
            </a:r>
            <a:r>
              <a:rPr lang="en-US" dirty="0" smtClean="0">
                <a:solidFill>
                  <a:srgbClr val="161616"/>
                </a:solidFill>
              </a:rPr>
              <a:t>       </a:t>
            </a:r>
            <a:r>
              <a:rPr lang="ru-RU" dirty="0" smtClean="0">
                <a:solidFill>
                  <a:srgbClr val="161616"/>
                </a:solidFill>
              </a:rPr>
              <a:t>   </a:t>
            </a:r>
            <a:r>
              <a:rPr lang="en-US" dirty="0" smtClean="0">
                <a:solidFill>
                  <a:srgbClr val="161616"/>
                </a:solidFill>
              </a:rPr>
              <a:t>M          N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972409" y="5902239"/>
            <a:ext cx="2443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161616"/>
                </a:solidFill>
              </a:rPr>
              <a:t>КАРДИНАЛЬНОСТЬ</a:t>
            </a:r>
            <a:endParaRPr lang="ru-RU" dirty="0">
              <a:solidFill>
                <a:srgbClr val="1616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972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26" y="1152207"/>
            <a:ext cx="7506748" cy="4553585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 bwMode="auto">
          <a:xfrm>
            <a:off x="457200" y="0"/>
            <a:ext cx="8229600" cy="43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9pPr>
          </a:lstStyle>
          <a:p>
            <a:r>
              <a:rPr lang="ru-RU" b="0" kern="0" smtClean="0">
                <a:solidFill>
                  <a:schemeClr val="accent5">
                    <a:lumMod val="10000"/>
                  </a:schemeClr>
                </a:solidFill>
              </a:rPr>
              <a:t>Нотация Чена</a:t>
            </a:r>
            <a:endParaRPr lang="ru-RU" b="0" kern="0" dirty="0">
              <a:solidFill>
                <a:schemeClr val="accent5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335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0245" y="288099"/>
            <a:ext cx="8229600" cy="43527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ru-RU" sz="3200" dirty="0">
                <a:solidFill>
                  <a:schemeClr val="accent5">
                    <a:lumMod val="25000"/>
                  </a:schemeClr>
                </a:solidFill>
              </a:rPr>
              <a:t>Нотация  Мартина</a:t>
            </a:r>
            <a:br>
              <a:rPr lang="ru-RU" sz="3200" dirty="0">
                <a:solidFill>
                  <a:schemeClr val="accent5">
                    <a:lumMod val="25000"/>
                  </a:schemeClr>
                </a:solidFill>
              </a:rPr>
            </a:br>
            <a:r>
              <a:rPr lang="ru-RU" sz="3200" dirty="0">
                <a:solidFill>
                  <a:schemeClr val="accent5">
                    <a:lumMod val="2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accent5">
                    <a:lumMod val="25000"/>
                  </a:schemeClr>
                </a:solidFill>
              </a:rPr>
              <a:t>Crow's Foot</a:t>
            </a:r>
            <a:r>
              <a:rPr lang="ru-RU" sz="3200" dirty="0">
                <a:solidFill>
                  <a:schemeClr val="accent5">
                    <a:lumMod val="25000"/>
                  </a:schemeClr>
                </a:solidFill>
              </a:rPr>
              <a:t> (Воронья лапка)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2"/>
          <a:srcRect t="15687"/>
          <a:stretch/>
        </p:blipFill>
        <p:spPr>
          <a:xfrm>
            <a:off x="194466" y="1249680"/>
            <a:ext cx="7721230" cy="3952800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284860"/>
              </p:ext>
            </p:extLst>
          </p:nvPr>
        </p:nvGraphicFramePr>
        <p:xfrm>
          <a:off x="7711440" y="1249680"/>
          <a:ext cx="1310640" cy="395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137871210"/>
                    </a:ext>
                  </a:extLst>
                </a:gridCol>
              </a:tblGrid>
              <a:tr h="39528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344443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512334"/>
              </p:ext>
            </p:extLst>
          </p:nvPr>
        </p:nvGraphicFramePr>
        <p:xfrm>
          <a:off x="7764780" y="1158660"/>
          <a:ext cx="1508760" cy="3975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13787121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M,N </a:t>
                      </a:r>
                      <a:br>
                        <a:rPr lang="en-US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(без</a:t>
                      </a:r>
                      <a:r>
                        <a:rPr lang="ru-RU" sz="11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уточнения)</a:t>
                      </a:r>
                      <a:endParaRPr lang="ru-RU" sz="11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34444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</a:t>
                      </a:r>
                      <a:endParaRPr lang="ru-RU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51775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ru-RU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0,1</a:t>
                      </a:r>
                      <a:endParaRPr lang="ru-RU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034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1,N</a:t>
                      </a:r>
                      <a:endParaRPr lang="ru-RU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26804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ru-RU" sz="1800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0,N</a:t>
                      </a:r>
                      <a:endParaRPr lang="ru-RU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910891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1071325" y="5293500"/>
            <a:ext cx="813363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dirty="0" smtClean="0">
                <a:solidFill>
                  <a:schemeClr val="bg1"/>
                </a:solidFill>
              </a:rPr>
              <a:t>Другие </a:t>
            </a: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ru-RU" dirty="0" smtClean="0">
                <a:solidFill>
                  <a:schemeClr val="bg1"/>
                </a:solidFill>
              </a:rPr>
              <a:t>нестандартные</a:t>
            </a:r>
            <a:r>
              <a:rPr lang="en-US" dirty="0" smtClean="0">
                <a:solidFill>
                  <a:schemeClr val="bg1"/>
                </a:solidFill>
              </a:rPr>
              <a:t>) </a:t>
            </a:r>
            <a:r>
              <a:rPr lang="ru-RU" dirty="0" smtClean="0">
                <a:solidFill>
                  <a:schemeClr val="bg1"/>
                </a:solidFill>
              </a:rPr>
              <a:t>кардинальности нотация не описывает, например: </a:t>
            </a:r>
            <a:r>
              <a:rPr lang="en-US" dirty="0" smtClean="0">
                <a:solidFill>
                  <a:schemeClr val="bg1"/>
                </a:solidFill>
              </a:rPr>
              <a:t>2,</a:t>
            </a:r>
            <a:r>
              <a:rPr lang="ru-RU" dirty="0" smtClean="0">
                <a:solidFill>
                  <a:schemeClr val="bg1"/>
                </a:solidFill>
              </a:rPr>
              <a:t>2 или 0,2 (</a:t>
            </a:r>
            <a:r>
              <a:rPr lang="ru-RU" dirty="0">
                <a:solidFill>
                  <a:schemeClr val="bg1"/>
                </a:solidFill>
              </a:rPr>
              <a:t>два родителя</a:t>
            </a:r>
            <a:r>
              <a:rPr lang="ru-RU" dirty="0" smtClean="0">
                <a:solidFill>
                  <a:schemeClr val="bg1"/>
                </a:solidFill>
              </a:rPr>
              <a:t>)</a:t>
            </a:r>
            <a:endParaRPr lang="en-US" dirty="0" smtClean="0">
              <a:solidFill>
                <a:schemeClr val="bg1"/>
              </a:solidFill>
            </a:endParaRPr>
          </a:p>
          <a:p>
            <a:pPr algn="l"/>
            <a:r>
              <a:rPr lang="ru-RU" dirty="0" smtClean="0">
                <a:solidFill>
                  <a:schemeClr val="bg1"/>
                </a:solidFill>
              </a:rPr>
              <a:t>«один ко многим» = 1</a:t>
            </a:r>
            <a:r>
              <a:rPr lang="en-US" dirty="0" smtClean="0">
                <a:solidFill>
                  <a:schemeClr val="bg1"/>
                </a:solidFill>
              </a:rPr>
              <a:t>:N</a:t>
            </a:r>
            <a:r>
              <a:rPr lang="ru-RU" dirty="0" smtClean="0">
                <a:solidFill>
                  <a:schemeClr val="bg1"/>
                </a:solidFill>
              </a:rPr>
              <a:t>.  Может быть 0,1 – 0,</a:t>
            </a:r>
            <a:r>
              <a:rPr lang="en-US" dirty="0" smtClean="0">
                <a:solidFill>
                  <a:schemeClr val="bg1"/>
                </a:solidFill>
              </a:rPr>
              <a:t>N</a:t>
            </a:r>
            <a:r>
              <a:rPr lang="ru-RU" dirty="0" smtClean="0">
                <a:solidFill>
                  <a:schemeClr val="bg1"/>
                </a:solidFill>
              </a:rPr>
              <a:t> / 1,1 – 2,</a:t>
            </a:r>
            <a:r>
              <a:rPr lang="en-US" dirty="0" smtClean="0">
                <a:solidFill>
                  <a:schemeClr val="bg1"/>
                </a:solidFill>
              </a:rPr>
              <a:t>N </a:t>
            </a:r>
            <a:r>
              <a:rPr lang="ru-RU" dirty="0" smtClean="0">
                <a:solidFill>
                  <a:schemeClr val="bg1"/>
                </a:solidFill>
              </a:rPr>
              <a:t>или иное (со стороны «один» 0,1 или 1,1, со стороны «многих» 0,</a:t>
            </a:r>
            <a:r>
              <a:rPr lang="en-US" dirty="0" smtClean="0">
                <a:solidFill>
                  <a:schemeClr val="bg1"/>
                </a:solidFill>
              </a:rPr>
              <a:t>N / 1,N / 2,N / … / 0,5 / …)</a:t>
            </a:r>
            <a:endParaRPr lang="ru-RU" dirty="0" smtClean="0">
              <a:solidFill>
                <a:schemeClr val="bg1"/>
              </a:solidFill>
            </a:endParaRPr>
          </a:p>
          <a:p>
            <a:pPr algn="l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238994" y="873148"/>
            <a:ext cx="4147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(варианты «правого» соединения)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407882" y="892436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min,max</a:t>
            </a:r>
            <a:r>
              <a:rPr lang="ru-RU" dirty="0" smtClean="0">
                <a:solidFill>
                  <a:schemeClr val="bg1"/>
                </a:solidFill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927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8083" y="0"/>
            <a:ext cx="8229600" cy="660748"/>
          </a:xfrm>
        </p:spPr>
        <p:txBody>
          <a:bodyPr/>
          <a:lstStyle/>
          <a:p>
            <a:r>
              <a:rPr lang="ru-RU" dirty="0" smtClean="0">
                <a:solidFill>
                  <a:schemeClr val="accent5">
                    <a:lumMod val="25000"/>
                  </a:schemeClr>
                </a:solidFill>
              </a:rPr>
              <a:t>Нотации </a:t>
            </a:r>
            <a:r>
              <a:rPr lang="en-US" dirty="0" smtClean="0">
                <a:solidFill>
                  <a:schemeClr val="accent5">
                    <a:lumMod val="25000"/>
                  </a:schemeClr>
                </a:solidFill>
              </a:rPr>
              <a:t>ER</a:t>
            </a:r>
            <a:endParaRPr lang="ru-RU" dirty="0">
              <a:solidFill>
                <a:schemeClr val="accent5">
                  <a:lumMod val="25000"/>
                </a:schemeClr>
              </a:solidFill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64" y="1570908"/>
            <a:ext cx="3551248" cy="18252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159" y="1556504"/>
            <a:ext cx="4158641" cy="183969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64" y="3595508"/>
            <a:ext cx="4297108" cy="16654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159" y="3342219"/>
            <a:ext cx="4418089" cy="191871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831" y="5659583"/>
            <a:ext cx="3141237" cy="88877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186075" y="5260932"/>
            <a:ext cx="12019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solidFill>
                  <a:srgbClr val="161616"/>
                </a:solidFill>
              </a:rPr>
              <a:t>Нотация </a:t>
            </a:r>
            <a:r>
              <a:rPr lang="en-US" sz="1200" dirty="0" smtClean="0">
                <a:solidFill>
                  <a:srgbClr val="161616"/>
                </a:solidFill>
              </a:rPr>
              <a:t>UML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14649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3548"/>
            <a:ext cx="8229600" cy="360123"/>
          </a:xfrm>
        </p:spPr>
        <p:txBody>
          <a:bodyPr/>
          <a:lstStyle/>
          <a:p>
            <a:r>
              <a:rPr lang="ru-RU" sz="3200" dirty="0">
                <a:solidFill>
                  <a:schemeClr val="accent5">
                    <a:lumMod val="25000"/>
                  </a:schemeClr>
                </a:solidFill>
              </a:rPr>
              <a:t>Функциональная модель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836112"/>
            <a:ext cx="8229600" cy="4495800"/>
          </a:xfrm>
        </p:spPr>
        <p:txBody>
          <a:bodyPr/>
          <a:lstStyle/>
          <a:p>
            <a:r>
              <a:rPr lang="ru-RU" dirty="0" smtClean="0">
                <a:solidFill>
                  <a:schemeClr val="accent5">
                    <a:lumMod val="25000"/>
                  </a:schemeClr>
                </a:solidFill>
              </a:rPr>
              <a:t>Функциональная модель представляет </a:t>
            </a:r>
            <a:r>
              <a:rPr lang="ru-RU" dirty="0">
                <a:solidFill>
                  <a:schemeClr val="accent5">
                    <a:lumMod val="25000"/>
                  </a:schemeClr>
                </a:solidFill>
              </a:rPr>
              <a:t>собой структурированное представление функций (видов деятельности, действий, процессов, операций) в моделируемой системе или предметной области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084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7800"/>
            <a:ext cx="8229600" cy="330200"/>
          </a:xfrm>
        </p:spPr>
        <p:txBody>
          <a:bodyPr/>
          <a:lstStyle/>
          <a:p>
            <a:r>
              <a:rPr lang="ru-RU" sz="3200" dirty="0" smtClean="0">
                <a:solidFill>
                  <a:schemeClr val="bg1"/>
                </a:solidFill>
              </a:rPr>
              <a:t>Функциональные модели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389122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45" y="4406900"/>
            <a:ext cx="3083779" cy="168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193601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500" dirty="0">
                <a:solidFill>
                  <a:schemeClr val="bg1"/>
                </a:solidFill>
              </a:rPr>
              <a:t>https://blog.stepes.com/e-commerce-needs-stepes-translating-retail-sites/</a:t>
            </a:r>
            <a:endParaRPr lang="ru-RU" sz="5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78786" y="716902"/>
            <a:ext cx="28137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solidFill>
                  <a:schemeClr val="bg1"/>
                </a:solidFill>
              </a:rPr>
              <a:t>Функции (наличных) денег</a:t>
            </a:r>
            <a:endParaRPr lang="ru-RU" sz="40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5608" y="1214516"/>
            <a:ext cx="3419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1" dirty="0">
                <a:solidFill>
                  <a:srgbClr val="333333"/>
                </a:solidFill>
                <a:latin typeface="Open Sans"/>
              </a:rPr>
              <a:t>Мера </a:t>
            </a:r>
            <a:r>
              <a:rPr lang="ru-RU" b="0" i="1" dirty="0" smtClean="0">
                <a:solidFill>
                  <a:srgbClr val="333333"/>
                </a:solidFill>
                <a:latin typeface="Open Sans"/>
              </a:rPr>
              <a:t>стоимости (измерить)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815897" y="974120"/>
            <a:ext cx="3932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1" dirty="0" smtClean="0">
                <a:solidFill>
                  <a:srgbClr val="333333"/>
                </a:solidFill>
                <a:latin typeface="Open Sans"/>
              </a:rPr>
              <a:t>Средство обращения (оплатить)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471902" y="1572137"/>
            <a:ext cx="4728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1" dirty="0">
                <a:solidFill>
                  <a:srgbClr val="333333"/>
                </a:solidFill>
                <a:latin typeface="Open Sans"/>
              </a:rPr>
              <a:t>Средство </a:t>
            </a:r>
            <a:r>
              <a:rPr lang="ru-RU" b="0" i="1" dirty="0" smtClean="0">
                <a:solidFill>
                  <a:srgbClr val="333333"/>
                </a:solidFill>
                <a:latin typeface="Open Sans"/>
              </a:rPr>
              <a:t>платежа (взять/отдать долг)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599929" y="2037668"/>
            <a:ext cx="4001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0" i="1" dirty="0">
                <a:solidFill>
                  <a:srgbClr val="333333"/>
                </a:solidFill>
                <a:latin typeface="Open Sans"/>
              </a:rPr>
              <a:t>Средство </a:t>
            </a:r>
            <a:r>
              <a:rPr lang="ru-RU" b="0" i="1" dirty="0" smtClean="0">
                <a:solidFill>
                  <a:srgbClr val="333333"/>
                </a:solidFill>
                <a:latin typeface="Open Sans"/>
              </a:rPr>
              <a:t>накопления (сохранить)</a:t>
            </a:r>
            <a:endParaRPr lang="ru-RU" dirty="0"/>
          </a:p>
        </p:txBody>
      </p:sp>
      <p:pic>
        <p:nvPicPr>
          <p:cNvPr id="390146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198" y="3699653"/>
            <a:ext cx="2593975" cy="259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4" descr="Кольцо из монеты Half dollar (Бижутерный сплав, Серебристый) 6-56549  #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714" y="2514227"/>
            <a:ext cx="1857241" cy="1522746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1210334" y="4051867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500" dirty="0"/>
              <a:t>https://ir.ozone.ru/s3/multimedia-c/wc1000/6334981272.jpg</a:t>
            </a:r>
          </a:p>
        </p:txBody>
      </p:sp>
    </p:spTree>
    <p:extLst>
      <p:ext uri="{BB962C8B-B14F-4D97-AF65-F5344CB8AC3E}">
        <p14:creationId xmlns:p14="http://schemas.microsoft.com/office/powerpoint/2010/main" val="169508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</a:rPr>
              <a:t>IDEF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 smtClean="0">
                <a:solidFill>
                  <a:schemeClr val="bg2"/>
                </a:solidFill>
              </a:rPr>
              <a:t>IDEF0 </a:t>
            </a:r>
            <a:r>
              <a:rPr lang="en-US" sz="1800" dirty="0" smtClean="0">
                <a:solidFill>
                  <a:schemeClr val="bg2"/>
                </a:solidFill>
              </a:rPr>
              <a:t> </a:t>
            </a:r>
            <a:r>
              <a:rPr lang="ru-RU" sz="1800" dirty="0" smtClean="0">
                <a:solidFill>
                  <a:schemeClr val="bg2"/>
                </a:solidFill>
              </a:rPr>
              <a:t>для </a:t>
            </a:r>
            <a:r>
              <a:rPr lang="ru-RU" sz="1800" b="1" dirty="0" smtClean="0">
                <a:solidFill>
                  <a:schemeClr val="bg2"/>
                </a:solidFill>
              </a:rPr>
              <a:t>функциональных</a:t>
            </a:r>
            <a:r>
              <a:rPr lang="ru-RU" sz="1800" dirty="0" smtClean="0">
                <a:solidFill>
                  <a:schemeClr val="bg2"/>
                </a:solidFill>
              </a:rPr>
              <a:t> моделей, отображающих </a:t>
            </a:r>
            <a:r>
              <a:rPr lang="ru-RU" sz="1800" dirty="0">
                <a:solidFill>
                  <a:schemeClr val="bg2"/>
                </a:solidFill>
              </a:rPr>
              <a:t>структуру и функции системы, а также потоки информации и материальных объектов, связывающие эти функции.</a:t>
            </a:r>
          </a:p>
          <a:p>
            <a:endParaRPr lang="ru-RU" sz="1800" dirty="0" smtClean="0">
              <a:solidFill>
                <a:schemeClr val="bg2"/>
              </a:solidFill>
            </a:endParaRPr>
          </a:p>
          <a:p>
            <a:r>
              <a:rPr lang="ru-RU" sz="1800" dirty="0" smtClean="0">
                <a:solidFill>
                  <a:schemeClr val="bg2"/>
                </a:solidFill>
              </a:rPr>
              <a:t>IDEF1 для </a:t>
            </a:r>
            <a:r>
              <a:rPr lang="ru-RU" sz="1800" dirty="0">
                <a:solidFill>
                  <a:schemeClr val="bg2"/>
                </a:solidFill>
              </a:rPr>
              <a:t>построения </a:t>
            </a:r>
            <a:r>
              <a:rPr lang="ru-RU" sz="1800" b="1" dirty="0" smtClean="0">
                <a:solidFill>
                  <a:schemeClr val="bg2"/>
                </a:solidFill>
              </a:rPr>
              <a:t>информационных</a:t>
            </a:r>
            <a:r>
              <a:rPr lang="ru-RU" sz="1800" dirty="0" smtClean="0">
                <a:solidFill>
                  <a:schemeClr val="bg2"/>
                </a:solidFill>
              </a:rPr>
              <a:t> моделей, отображающих </a:t>
            </a:r>
            <a:r>
              <a:rPr lang="ru-RU" sz="1800" dirty="0">
                <a:solidFill>
                  <a:schemeClr val="bg2"/>
                </a:solidFill>
              </a:rPr>
              <a:t>структуру и содержание информационных </a:t>
            </a:r>
            <a:r>
              <a:rPr lang="ru-RU" sz="1800" dirty="0" smtClean="0">
                <a:solidFill>
                  <a:schemeClr val="bg2"/>
                </a:solidFill>
              </a:rPr>
              <a:t>потоков</a:t>
            </a:r>
          </a:p>
          <a:p>
            <a:endParaRPr lang="ru-RU" sz="1800" dirty="0">
              <a:solidFill>
                <a:schemeClr val="bg2"/>
              </a:solidFill>
            </a:endParaRPr>
          </a:p>
          <a:p>
            <a:r>
              <a:rPr lang="ru-RU" sz="1800" dirty="0" smtClean="0">
                <a:solidFill>
                  <a:schemeClr val="bg2"/>
                </a:solidFill>
              </a:rPr>
              <a:t>IDEF2 </a:t>
            </a:r>
            <a:r>
              <a:rPr lang="ru-RU" sz="1800" dirty="0">
                <a:solidFill>
                  <a:schemeClr val="bg2"/>
                </a:solidFill>
              </a:rPr>
              <a:t>позволяет построить </a:t>
            </a:r>
            <a:r>
              <a:rPr lang="ru-RU" sz="1800" b="1" dirty="0" smtClean="0">
                <a:solidFill>
                  <a:schemeClr val="bg2"/>
                </a:solidFill>
              </a:rPr>
              <a:t>динамические</a:t>
            </a:r>
            <a:r>
              <a:rPr lang="ru-RU" sz="1800" dirty="0" smtClean="0">
                <a:solidFill>
                  <a:schemeClr val="bg2"/>
                </a:solidFill>
              </a:rPr>
              <a:t> модели </a:t>
            </a:r>
            <a:r>
              <a:rPr lang="ru-RU" sz="1800" dirty="0">
                <a:solidFill>
                  <a:schemeClr val="bg2"/>
                </a:solidFill>
              </a:rPr>
              <a:t>меняющихся во времени поведения функций, информации и ресурсов системы.</a:t>
            </a:r>
          </a:p>
          <a:p>
            <a:endParaRPr lang="en-US" sz="1800" dirty="0" smtClean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endParaRPr lang="en-US" sz="1800" dirty="0" smtClean="0">
              <a:solidFill>
                <a:schemeClr val="bg2"/>
              </a:solidFill>
            </a:endParaRPr>
          </a:p>
          <a:p>
            <a:r>
              <a:rPr lang="en-US" sz="1800" dirty="0" smtClean="0">
                <a:solidFill>
                  <a:schemeClr val="bg2"/>
                </a:solidFill>
              </a:rPr>
              <a:t>https</a:t>
            </a:r>
            <a:r>
              <a:rPr lang="en-US" sz="1800" dirty="0">
                <a:solidFill>
                  <a:schemeClr val="bg2"/>
                </a:solidFill>
              </a:rPr>
              <a:t>://nsu.ru/smk/files/idef.pdf</a:t>
            </a:r>
            <a:endParaRPr lang="ru-RU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79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992" y="0"/>
            <a:ext cx="8229600" cy="535488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25000"/>
                  </a:schemeClr>
                </a:solidFill>
              </a:rPr>
              <a:t>USE CASE</a:t>
            </a:r>
            <a:endParaRPr lang="ru-RU" dirty="0">
              <a:solidFill>
                <a:schemeClr val="accent5">
                  <a:lumMod val="25000"/>
                </a:schemeClr>
              </a:solidFill>
            </a:endParaRPr>
          </a:p>
        </p:txBody>
      </p:sp>
      <p:pic>
        <p:nvPicPr>
          <p:cNvPr id="389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406" y="1600200"/>
            <a:ext cx="6071187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835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4168"/>
            <a:ext cx="8229600" cy="497306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IDEF 0</a:t>
            </a:r>
            <a:endParaRPr lang="ru-RU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89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57" y="580594"/>
            <a:ext cx="8036550" cy="6110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274677" y="6632993"/>
            <a:ext cx="987770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00" b="0" i="1" dirty="0" smtClean="0">
                <a:solidFill>
                  <a:schemeClr val="tx1">
                    <a:lumMod val="65000"/>
                  </a:schemeClr>
                </a:solidFill>
              </a:rPr>
              <a:t>Из открытых источников</a:t>
            </a:r>
            <a:endParaRPr lang="ru-RU" sz="500" b="0" i="1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547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88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77" y="637111"/>
            <a:ext cx="7165251" cy="5247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36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4089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88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47" y="566056"/>
            <a:ext cx="7990682" cy="6049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7274677" y="6632993"/>
            <a:ext cx="987770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500" b="0" i="1" dirty="0" smtClean="0">
                <a:solidFill>
                  <a:schemeClr val="tx1">
                    <a:lumMod val="65000"/>
                  </a:schemeClr>
                </a:solidFill>
              </a:rPr>
              <a:t>Из открытых источников</a:t>
            </a:r>
            <a:endParaRPr lang="ru-RU" sz="500" b="0" i="1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3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sz="3600" dirty="0" smtClean="0">
                <a:solidFill>
                  <a:schemeClr val="accent5">
                    <a:lumMod val="25000"/>
                  </a:schemeClr>
                </a:solidFill>
              </a:rPr>
              <a:t>Процедурные (алгоритмические) модели</a:t>
            </a:r>
            <a:endParaRPr lang="ru-RU" sz="3600" dirty="0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1998"/>
            <a:ext cx="8473858" cy="4495800"/>
          </a:xfrm>
        </p:spPr>
        <p:txBody>
          <a:bodyPr/>
          <a:lstStyle/>
          <a:p>
            <a:r>
              <a:rPr lang="ru-RU" sz="2400" u="sng" dirty="0">
                <a:solidFill>
                  <a:schemeClr val="accent5">
                    <a:lumMod val="25000"/>
                  </a:schemeClr>
                </a:solidFill>
              </a:rPr>
              <a:t>Алгоритмическая модель или алгоритм </a:t>
            </a:r>
            <a:r>
              <a:rPr lang="ru-RU" sz="2400" dirty="0">
                <a:solidFill>
                  <a:schemeClr val="accent5">
                    <a:lumMod val="25000"/>
                  </a:schemeClr>
                </a:solidFill>
              </a:rPr>
              <a:t>– это </a:t>
            </a:r>
            <a:r>
              <a:rPr lang="ru-RU" sz="2400" dirty="0" smtClean="0">
                <a:solidFill>
                  <a:schemeClr val="accent5">
                    <a:lumMod val="25000"/>
                  </a:schemeClr>
                </a:solidFill>
              </a:rPr>
              <a:t>разновидность</a:t>
            </a:r>
            <a:r>
              <a:rPr lang="ru-RU" sz="2400" dirty="0">
                <a:solidFill>
                  <a:schemeClr val="accent5">
                    <a:lumMod val="25000"/>
                  </a:schemeClr>
                </a:solidFill>
              </a:rPr>
              <a:t> </a:t>
            </a:r>
            <a:r>
              <a:rPr lang="ru-RU" sz="2400" u="sng" dirty="0" smtClean="0">
                <a:solidFill>
                  <a:schemeClr val="accent5">
                    <a:lumMod val="25000"/>
                  </a:schemeClr>
                </a:solidFill>
              </a:rPr>
              <a:t>модели</a:t>
            </a:r>
            <a:r>
              <a:rPr lang="ru-RU" sz="2400" dirty="0">
                <a:solidFill>
                  <a:schemeClr val="accent5">
                    <a:lumMod val="25000"/>
                  </a:schemeClr>
                </a:solidFill>
              </a:rPr>
              <a:t>, где содержится описание последовательности </a:t>
            </a:r>
            <a:r>
              <a:rPr lang="ru-RU" sz="2400" dirty="0" smtClean="0">
                <a:solidFill>
                  <a:schemeClr val="accent5">
                    <a:lumMod val="25000"/>
                  </a:schemeClr>
                </a:solidFill>
              </a:rPr>
              <a:t>действий </a:t>
            </a:r>
            <a:r>
              <a:rPr lang="ru-RU" sz="2400" dirty="0">
                <a:solidFill>
                  <a:schemeClr val="accent5">
                    <a:lumMod val="25000"/>
                  </a:schemeClr>
                </a:solidFill>
              </a:rPr>
              <a:t> (план), строгое исполнение которых приводит к  решению поставленной задачи за конечное число шагов.</a:t>
            </a:r>
          </a:p>
        </p:txBody>
      </p:sp>
    </p:spTree>
    <p:extLst>
      <p:ext uri="{BB962C8B-B14F-4D97-AF65-F5344CB8AC3E}">
        <p14:creationId xmlns:p14="http://schemas.microsoft.com/office/powerpoint/2010/main" val="59004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2"/>
                </a:solidFill>
              </a:rPr>
              <a:t>Блок-схемы</a:t>
            </a:r>
            <a:endParaRPr lang="ru-RU" dirty="0">
              <a:solidFill>
                <a:schemeClr val="bg2"/>
              </a:solidFill>
            </a:endParaRPr>
          </a:p>
        </p:txBody>
      </p:sp>
      <p:pic>
        <p:nvPicPr>
          <p:cNvPr id="391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730" y="1600200"/>
            <a:ext cx="386454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371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ChangeArrowheads="1"/>
          </p:cNvSpPr>
          <p:nvPr/>
        </p:nvSpPr>
        <p:spPr bwMode="auto">
          <a:xfrm>
            <a:off x="373063" y="819150"/>
            <a:ext cx="8299450" cy="527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indent="381000">
              <a:spcBef>
                <a:spcPct val="20000"/>
              </a:spcBef>
              <a:buClr>
                <a:schemeClr val="tx2"/>
              </a:buClr>
              <a:tabLst>
                <a:tab pos="723900" algn="l"/>
              </a:tabLst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801688" indent="273050">
              <a:spcBef>
                <a:spcPct val="20000"/>
              </a:spcBef>
              <a:tabLst>
                <a:tab pos="723900" algn="l"/>
              </a:tabLst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254125">
              <a:spcBef>
                <a:spcPct val="20000"/>
              </a:spcBef>
              <a:buClr>
                <a:schemeClr val="tx2"/>
              </a:buClr>
              <a:tabLst>
                <a:tab pos="723900" algn="l"/>
              </a:tabLst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433513">
              <a:spcBef>
                <a:spcPct val="20000"/>
              </a:spcBef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20000"/>
              </a:spcBef>
              <a:buClr>
                <a:schemeClr val="tx2"/>
              </a:buClr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tabLst>
                <a:tab pos="723900" algn="l"/>
              </a:tabLs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>
              <a:buClr>
                <a:srgbClr val="FF3300"/>
              </a:buClr>
            </a:pPr>
            <a:endParaRPr lang="ru-RU" altLang="ru-RU" sz="2800" b="0" dirty="0">
              <a:solidFill>
                <a:srgbClr val="111111"/>
              </a:solidFill>
            </a:endParaRPr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1033463" y="6551613"/>
            <a:ext cx="81105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/>
            <a:r>
              <a:rPr lang="ru-RU" altLang="ru-RU" dirty="0" smtClean="0">
                <a:solidFill>
                  <a:schemeClr val="tx1"/>
                </a:solidFill>
              </a:rPr>
              <a:t>ИИКС НИЯУ МИФИ, Кафедра  кибернетики	</a:t>
            </a:r>
            <a:r>
              <a:rPr lang="en-US" altLang="ru-RU" dirty="0">
                <a:solidFill>
                  <a:schemeClr val="tx1"/>
                </a:solidFill>
              </a:rPr>
              <a:t>	</a:t>
            </a:r>
            <a:endParaRPr lang="ru-RU" altLang="ru-RU" dirty="0">
              <a:solidFill>
                <a:schemeClr val="tx1"/>
              </a:solidFill>
            </a:endParaRPr>
          </a:p>
        </p:txBody>
      </p:sp>
      <p:sp>
        <p:nvSpPr>
          <p:cNvPr id="579588" name="Rectangle 4"/>
          <p:cNvSpPr>
            <a:spLocks noChangeArrowheads="1"/>
          </p:cNvSpPr>
          <p:nvPr/>
        </p:nvSpPr>
        <p:spPr bwMode="auto">
          <a:xfrm>
            <a:off x="1735138" y="77788"/>
            <a:ext cx="7777162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1pPr>
            <a:lvl2pPr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2pPr>
            <a:lvl3pPr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3pPr>
            <a:lvl4pPr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4pPr>
            <a:lvl5pPr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defRPr>
            </a:lvl9pPr>
          </a:lstStyle>
          <a:p>
            <a:r>
              <a:rPr lang="en-US" sz="1800" dirty="0" err="1">
                <a:solidFill>
                  <a:schemeClr val="bg1"/>
                </a:solidFill>
              </a:rPr>
              <a:t>eEPC</a:t>
            </a:r>
            <a:r>
              <a:rPr lang="en-US" sz="1800" dirty="0">
                <a:solidFill>
                  <a:schemeClr val="bg1"/>
                </a:solidFill>
              </a:rPr>
              <a:t> (Extended event driven process chain</a:t>
            </a:r>
            <a:r>
              <a:rPr lang="en-US" sz="1800" dirty="0" smtClean="0">
                <a:solidFill>
                  <a:schemeClr val="bg1"/>
                </a:solidFill>
              </a:rPr>
              <a:t>)</a:t>
            </a:r>
            <a:r>
              <a:rPr lang="ru-RU" sz="1800" dirty="0" smtClean="0">
                <a:solidFill>
                  <a:schemeClr val="bg1"/>
                </a:solidFill>
              </a:rPr>
              <a:t> (изм. </a:t>
            </a:r>
            <a:r>
              <a:rPr lang="en-US" sz="1800" dirty="0" smtClean="0">
                <a:solidFill>
                  <a:schemeClr val="bg1"/>
                </a:solidFill>
              </a:rPr>
              <a:t>IDEF 3)</a:t>
            </a:r>
            <a:endParaRPr lang="ru-RU" altLang="ru-RU" sz="1800" dirty="0">
              <a:solidFill>
                <a:schemeClr val="bg1"/>
              </a:solidFill>
              <a:latin typeface="Berlin Sans FB" pitchFamily="34" charset="0"/>
            </a:endParaRPr>
          </a:p>
        </p:txBody>
      </p:sp>
      <p:pic>
        <p:nvPicPr>
          <p:cNvPr id="759810" name="Picture 2" descr="http://bigpo.ru/potrb/%D0%A0%D1%83%D0%BA%D0%BE%D0%B2%D0%BE%D0%B4%D1%81%D1%82%D0%B2%D0%BE+%D0%BF%D0%BE%D0%BB%D1%8C%D0%B7%D0%BE%D0%B2%D0%B0%D1%82%D0%B5%D0%BB%D1%8F+Business+Studiob/123747_html_m68ff89d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670" y="511174"/>
            <a:ext cx="4984023" cy="558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905647" y="5905281"/>
            <a:ext cx="8366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333333"/>
                </a:solidFill>
                <a:latin typeface="YS Text"/>
              </a:rPr>
              <a:t>В диаграмме </a:t>
            </a:r>
            <a:r>
              <a:rPr lang="ru-RU" b="0" dirty="0" err="1">
                <a:solidFill>
                  <a:srgbClr val="333333"/>
                </a:solidFill>
                <a:latin typeface="YS Text"/>
              </a:rPr>
              <a:t>eEPC</a:t>
            </a:r>
            <a:r>
              <a:rPr lang="ru-RU" b="0" dirty="0">
                <a:solidFill>
                  <a:srgbClr val="333333"/>
                </a:solidFill>
                <a:latin typeface="YS Text"/>
              </a:rPr>
              <a:t> отражена логика и последовательность функциональных шагов в рамках </a:t>
            </a:r>
            <a:r>
              <a:rPr lang="ru-RU" u="sng" dirty="0">
                <a:solidFill>
                  <a:srgbClr val="333333"/>
                </a:solidFill>
                <a:latin typeface="YS Text"/>
              </a:rPr>
              <a:t>одного</a:t>
            </a:r>
            <a:r>
              <a:rPr lang="ru-RU" b="0" dirty="0">
                <a:solidFill>
                  <a:srgbClr val="333333"/>
                </a:solidFill>
                <a:latin typeface="YS Text"/>
              </a:rPr>
              <a:t> анализируемого </a:t>
            </a:r>
            <a:r>
              <a:rPr lang="ru-RU" b="0" dirty="0" smtClean="0">
                <a:solidFill>
                  <a:srgbClr val="333333"/>
                </a:solidFill>
                <a:latin typeface="YS Text"/>
              </a:rPr>
              <a:t>бизнес-процесса</a:t>
            </a:r>
            <a:r>
              <a:rPr lang="ru-RU" b="0" dirty="0">
                <a:solidFill>
                  <a:srgbClr val="333333"/>
                </a:solidFill>
                <a:latin typeface="YS Text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413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60834" name="Picture 2" descr="http://bigpo.ru/potra/%D0%91%D0%B8%D0%B7%D0%BD%D0%B5%D1%81-%D0%BF%D1%80%D0%BE%D1%86%D0%B5%D1%81%D1%81%D1%8B+%D0%BE%D1%80%D0%B3%D0%B0%D0%BD%D0%B8%D0%B7%D0%B0%D1%86%D0%B8%D0%B8a/62596_html_12a188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701" y="491372"/>
            <a:ext cx="5467350" cy="581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6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9706" y="0"/>
            <a:ext cx="8229600" cy="737937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10000"/>
                  </a:schemeClr>
                </a:solidFill>
              </a:rPr>
              <a:t>UML 1.0</a:t>
            </a:r>
            <a:endParaRPr lang="ru-RU" dirty="0">
              <a:solidFill>
                <a:schemeClr val="accent5">
                  <a:lumMod val="10000"/>
                </a:schemeClr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406484"/>
              </p:ext>
            </p:extLst>
          </p:nvPr>
        </p:nvGraphicFramePr>
        <p:xfrm>
          <a:off x="280735" y="816121"/>
          <a:ext cx="8133348" cy="5408552"/>
        </p:xfrm>
        <a:graphic>
          <a:graphicData uri="http://schemas.openxmlformats.org/drawingml/2006/table">
            <a:tbl>
              <a:tblPr/>
              <a:tblGrid>
                <a:gridCol w="1161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6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9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676">
                <a:tc rowSpan="2" gridSpan="3">
                  <a:txBody>
                    <a:bodyPr/>
                    <a:lstStyle/>
                    <a:p>
                      <a:pPr fontAlgn="ctr"/>
                      <a:endParaRPr lang="ru-RU" sz="9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</a:endParaRP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Назначение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9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</a:rPr>
                        <a:t>Тип диаграммы (модели ИС)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00">
                <a:tc gridSpan="3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по степени физической реализации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по отображению динамики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по отображаемому аспекту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925">
                <a:tc gridSpan="3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Вариантов использования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use case)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</a:t>
                      </a:r>
                      <a:r>
                        <a:rPr lang="ru-RU" sz="9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функции</a:t>
                      </a: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 системы, взаимодействие между актерами и функциями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Логическая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Статическая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Функциональная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50">
                <a:tc gridSpan="3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Классов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class)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</a:t>
                      </a:r>
                      <a:r>
                        <a:rPr lang="ru-RU" sz="9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набор классов</a:t>
                      </a: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, интерфейсов и отношений между ними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Логическая или</a:t>
                      </a:r>
                      <a:b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физическая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Статическая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Функционально-информационная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800">
                <a:tc gridSpan="3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Пакетов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package)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</a:t>
                      </a:r>
                      <a:r>
                        <a:rPr lang="ru-RU" sz="9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набор пакетов </a:t>
                      </a: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и отношений между ними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Логическая или</a:t>
                      </a:r>
                      <a:b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физическая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Статическая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Компонентная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150">
                <a:tc rowSpan="4"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Поведения</a:t>
                      </a:r>
                      <a:b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behavior)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Автоматов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state machine)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</a:t>
                      </a:r>
                      <a:r>
                        <a:rPr lang="ru-RU" sz="9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состояния сущности и переходы </a:t>
                      </a: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между ними в процессе ее жизненного цикла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Логическая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Динамическая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Поведенческая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4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Деятельности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activity)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</a:t>
                      </a:r>
                      <a:r>
                        <a:rPr lang="ru-RU" sz="9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бизнес-процессы</a:t>
                      </a: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 в системе (описание алгоритмов поведения)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9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Взаимодействия</a:t>
                      </a:r>
                      <a:b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interaction)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Последовательности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sequence)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последовательность передачи сообщений между объектами и актерами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227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Коммуникации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communication)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Аналогична диаграмме последовательности, но основной акцент делается на структуру взаимодействия между объектами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8599">
                <a:tc rowSpan="2">
                  <a:txBody>
                    <a:bodyPr/>
                    <a:lstStyle/>
                    <a:p>
                      <a:pPr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Реализации</a:t>
                      </a:r>
                      <a:b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implementation)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Компонентов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component)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компоненты системы (программы, библиотеки, таблицы и т.д.) и связи между ними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Физическая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Статическая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Компонентная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49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Развертывания</a:t>
                      </a:r>
                      <a:b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</a:br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en-US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deployment)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sz="9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</a:rPr>
                        <a:t>Отображает размещение компонентов по узлам сети, а также ее конфигурацию</a:t>
                      </a:r>
                    </a:p>
                  </a:txBody>
                  <a:tcPr marL="5726" marR="5726" marT="5726" marB="5726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58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</a:t>
            </a:r>
            <a:r>
              <a:rPr lang="ru-RU" dirty="0" smtClean="0"/>
              <a:t>:  обобщения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90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9" y="2530136"/>
            <a:ext cx="3805935" cy="222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0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799" y="2086899"/>
            <a:ext cx="381952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431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Изучение темы моделирования будет продолжено на следующих лекциях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444966"/>
      </p:ext>
    </p:extLst>
  </p:cSld>
  <p:clrMapOvr>
    <a:masterClrMapping/>
  </p:clrMapOvr>
</p:sld>
</file>

<file path=ppt/theme/theme1.xml><?xml version="1.0" encoding="utf-8"?>
<a:theme xmlns:a="http://schemas.openxmlformats.org/drawingml/2006/main" name="Вершина горы">
  <a:themeElements>
    <a:clrScheme name="Вершина горы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Вершина горы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BE0E3"/>
        </a:solidFill>
        <a:ln w="190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1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BE0E3"/>
        </a:solidFill>
        <a:ln w="190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1800" b="1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Вершина горы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Вершина горы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17445</TotalTime>
  <Words>743</Words>
  <Application>Microsoft Office PowerPoint</Application>
  <PresentationFormat>Экран (4:3)</PresentationFormat>
  <Paragraphs>140</Paragraphs>
  <Slides>26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Berlin Sans FB</vt:lpstr>
      <vt:lpstr>Open Sans</vt:lpstr>
      <vt:lpstr>Verdana</vt:lpstr>
      <vt:lpstr>YS Text</vt:lpstr>
      <vt:lpstr>Вершина горы</vt:lpstr>
      <vt:lpstr>Image</vt:lpstr>
      <vt:lpstr>Презентация PowerPoint</vt:lpstr>
      <vt:lpstr>Презентация PowerPoint</vt:lpstr>
      <vt:lpstr>Презентация PowerPoint</vt:lpstr>
      <vt:lpstr>Модели</vt:lpstr>
      <vt:lpstr>Модели</vt:lpstr>
      <vt:lpstr>Презентация PowerPoint</vt:lpstr>
      <vt:lpstr>Описание информационного представления предметной области  </vt:lpstr>
      <vt:lpstr>Нотации «сущность – связь»   </vt:lpstr>
      <vt:lpstr>Нотация Чена</vt:lpstr>
      <vt:lpstr>Презентация PowerPoint</vt:lpstr>
      <vt:lpstr>Нотация  Мартина  Crow's Foot (Воронья лапка)</vt:lpstr>
      <vt:lpstr>Нотации ER</vt:lpstr>
      <vt:lpstr>Функциональная модель</vt:lpstr>
      <vt:lpstr>Функциональные модели</vt:lpstr>
      <vt:lpstr>IDEF</vt:lpstr>
      <vt:lpstr>USE CASE</vt:lpstr>
      <vt:lpstr>IDEF 0</vt:lpstr>
      <vt:lpstr>Презентация PowerPoint</vt:lpstr>
      <vt:lpstr>Презентация PowerPoint</vt:lpstr>
      <vt:lpstr>Процедурные (алгоритмические) модели</vt:lpstr>
      <vt:lpstr>Блок-схемы</vt:lpstr>
      <vt:lpstr>Презентация PowerPoint</vt:lpstr>
      <vt:lpstr>Презентация PowerPoint</vt:lpstr>
      <vt:lpstr>UML 1.0</vt:lpstr>
      <vt:lpstr>USE CASE:  обобщения</vt:lpstr>
      <vt:lpstr>Презентация PowerPoint</vt:lpstr>
    </vt:vector>
  </TitlesOfParts>
  <Company>jungle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kilo</dc:creator>
  <cp:lastModifiedBy>User</cp:lastModifiedBy>
  <cp:revision>317</cp:revision>
  <cp:lastPrinted>1601-01-01T00:00:00Z</cp:lastPrinted>
  <dcterms:created xsi:type="dcterms:W3CDTF">2004-02-23T20:29:39Z</dcterms:created>
  <dcterms:modified xsi:type="dcterms:W3CDTF">2025-09-05T13:41:37Z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8</vt:i4>
  </property>
</Properties>
</file>